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Average Daily Picks by Zone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Picks</c:v>
                </c:pt>
              </c:strCache>
            </c:strRef>
          </c:tx>
          <c:spPr>
            <a:solidFill>
              <a:srgbClr val="B39D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9D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AD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8B6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Zone A
(Fast/Light)</c:v>
                  </c:pt>
                  <c:pt idx="1">
                    <c:v>Zone B
(Mid-Range)</c:v>
                  </c:pt>
                  <c:pt idx="2">
                    <c:v>Zone C
(Slow/Heavy)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</c:v>
                </c:pt>
                <c:pt idx="1">
                  <c:v>67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Inertia vs K — Look for the Elbow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7C5CBF"/>
            </a:solidFill>
            <a:ln w="38100" cap="flat">
              <a:solidFill>
                <a:srgbClr val="7C5C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5CBF"/>
              </a:solidFill>
              <a:ln w="9525" cap="flat">
                <a:solidFill>
                  <a:srgbClr val="7C5C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8400</c:v>
                </c:pt>
                <c:pt idx="1">
                  <c:v>5100</c:v>
                </c:pt>
                <c:pt idx="2">
                  <c:v>3200</c:v>
                </c:pt>
                <c:pt idx="3">
                  <c:v>2700</c:v>
                </c:pt>
                <c:pt idx="4">
                  <c:v>2500</c:v>
                </c:pt>
                <c:pt idx="5">
                  <c:v>2420</c:v>
                </c:pt>
                <c:pt idx="6">
                  <c:v>2390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560320" cy="2560320"/>
          </a:xfrm>
          <a:prstGeom prst="ellipse">
            <a:avLst/>
          </a:prstGeom>
          <a:solidFill>
            <a:srgbClr val="B39DE8">
              <a:alpha val="18000"/>
            </a:srgbClr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5AADA8">
              <a:alpha val="18000"/>
            </a:srgbClr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645920" cy="1645920"/>
          </a:xfrm>
          <a:prstGeom prst="ellipse">
            <a:avLst/>
          </a:prstGeom>
          <a:solidFill>
            <a:srgbClr val="C9957A">
              <a:alpha val="22000"/>
            </a:srgbClr>
          </a:solidFill>
          <a:ln w="12700">
            <a:solidFill>
              <a:srgbClr val="C995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9944" y="832104"/>
            <a:ext cx="164592" cy="164592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4264" y="1197864"/>
            <a:ext cx="164592" cy="164592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27064" y="1289304"/>
            <a:ext cx="164592" cy="164592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7144" y="649224"/>
            <a:ext cx="164592" cy="164592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1384" y="1563624"/>
            <a:ext cx="164592" cy="164592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98664" y="2112264"/>
            <a:ext cx="164592" cy="164592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2984" y="1746504"/>
            <a:ext cx="164592" cy="164592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15784" y="2478024"/>
            <a:ext cx="164592" cy="164592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2295144"/>
            <a:ext cx="164592" cy="164592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0104" y="2752344"/>
            <a:ext cx="164592" cy="164592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832104"/>
            <a:ext cx="164592" cy="164592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04504" y="1106424"/>
            <a:ext cx="164592" cy="164592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1380744"/>
            <a:ext cx="164592" cy="164592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13064" y="557784"/>
            <a:ext cx="164592" cy="164592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95944" y="1563624"/>
            <a:ext cx="164592" cy="164592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06070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39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1124712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2231136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AAD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44968" y="2295144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042416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8B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6488" y="1106424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4864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3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with Real-World Examples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25786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Segments to Fraud Detection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1828800" cy="36576"/>
          </a:xfrm>
          <a:prstGeom prst="rect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 Abdulwahid  •  Financial Data Scientist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K-Means?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2EE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</a:t>
            </a:r>
            <a:pPr indent="0" marL="0">
              <a:buNone/>
            </a:pPr>
            <a:r>
              <a:rPr lang="en-US" sz="15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</a:t>
            </a:r>
            <a:pPr indent="0" marL="0">
              <a:buNone/>
            </a:pPr>
            <a:r>
              <a:rPr lang="en-US" sz="15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pPr indent="0" marL="0">
              <a:buNone/>
            </a:pPr>
            <a:r>
              <a:rPr lang="en-US" sz="15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learning algorithm that groups data into </a:t>
            </a:r>
            <a:pPr indent="0" marL="0">
              <a:buNone/>
            </a:pPr>
            <a:r>
              <a:rPr lang="en-US" sz="15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clusters</a:t>
            </a:r>
            <a:pPr indent="0" marL="0">
              <a:buNone/>
            </a:pPr>
            <a:r>
              <a:rPr lang="en-US" sz="15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similarity — without needing labeled data.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331720"/>
            <a:ext cx="548640" cy="548640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natural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groupings on its own.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24028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4015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points that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close together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(Euclidean distance).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2331720"/>
            <a:ext cx="548640" cy="548640"/>
          </a:xfrm>
          <a:prstGeom prst="ellipse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34015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until cluster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stop moving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(convergence).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K-Means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76272" y="2578608"/>
            <a:ext cx="320040" cy="54864"/>
          </a:xfrm>
          <a:prstGeom prst="rect">
            <a:avLst/>
          </a:prstGeom>
          <a:solidFill>
            <a:srgbClr val="8B8FAA"/>
          </a:solidFill>
          <a:ln w="12700">
            <a:solidFill>
              <a:srgbClr val="8B8F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868680"/>
            <a:ext cx="594360" cy="594360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6916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14884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many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(K) you want.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only input.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578608"/>
            <a:ext cx="320040" cy="54864"/>
          </a:xfrm>
          <a:prstGeom prst="rect">
            <a:avLst/>
          </a:prstGeom>
          <a:solidFill>
            <a:srgbClr val="8B8FAA"/>
          </a:solidFill>
          <a:ln w="12700">
            <a:solidFill>
              <a:srgbClr val="8B8F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6392" y="868680"/>
            <a:ext cx="594360" cy="594360"/>
          </a:xfrm>
          <a:prstGeom prst="ellipse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96312" y="160020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16916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Centroids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96312" y="214884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place 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points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space.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73952" y="2578608"/>
            <a:ext cx="320040" cy="54864"/>
          </a:xfrm>
          <a:prstGeom prst="rect">
            <a:avLst/>
          </a:prstGeom>
          <a:solidFill>
            <a:srgbClr val="8B8FAA"/>
          </a:solidFill>
          <a:ln w="12700">
            <a:solidFill>
              <a:srgbClr val="8B8F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5232" y="868680"/>
            <a:ext cx="594360" cy="594360"/>
          </a:xfrm>
          <a:prstGeom prst="ellipse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45152" y="160020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16916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45152" y="214884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point joins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nearest centroid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Euclidean distance).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34072" y="868680"/>
            <a:ext cx="594360" cy="594360"/>
          </a:xfrm>
          <a:prstGeom prst="ellipse">
            <a:avLst/>
          </a:prstGeom>
          <a:solidFill>
            <a:srgbClr val="C9957A"/>
          </a:solidFill>
          <a:ln w="12700">
            <a:solidFill>
              <a:srgbClr val="C995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4072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93992" y="160020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93992" y="16916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Centroids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93992" y="214884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each centroid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mean of its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points. Repeat.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3 &amp; 4 until centroids no longer move — this is called convergence.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 1 — FINANCE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Spend Segmentation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3474720"/>
          </a:xfrm>
          <a:prstGeom prst="rect">
            <a:avLst/>
          </a:prstGeom>
          <a:solidFill>
            <a:srgbClr val="F8F6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8FAA"/>
                </a:solidFill>
              </a:rPr>
              <a:t>Spend vs Frequency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02436" y="1613916"/>
            <a:ext cx="155448" cy="15544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6756" y="1751076"/>
            <a:ext cx="155448" cy="15544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3876" y="1933956"/>
            <a:ext cx="155448" cy="15544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9636" y="1659636"/>
            <a:ext cx="155448" cy="15544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5316" y="2071116"/>
            <a:ext cx="155448" cy="15544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1076" y="1842516"/>
            <a:ext cx="155448" cy="15544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2596" y="3031236"/>
            <a:ext cx="155448" cy="15544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6916" y="3214116"/>
            <a:ext cx="155448" cy="15544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4036" y="3396996"/>
            <a:ext cx="155448" cy="15544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39796" y="3122676"/>
            <a:ext cx="155448" cy="15544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5476" y="3579876"/>
            <a:ext cx="155448" cy="15544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1236" y="3396996"/>
            <a:ext cx="155448" cy="15544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51076" y="2848356"/>
            <a:ext cx="155448" cy="15544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5396" y="2665476"/>
            <a:ext cx="155448" cy="15544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42516" y="3122676"/>
            <a:ext cx="155448" cy="15544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08276" y="2756916"/>
            <a:ext cx="155448" cy="15544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33956" y="3305556"/>
            <a:ext cx="155448" cy="15544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99716" y="2939796"/>
            <a:ext cx="155448" cy="15544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08176" y="1764792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39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72184" y="1828800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3236976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AAD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52344" y="3300984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56816" y="288950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8B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20824" y="2953512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A"/>
                </a:solidFill>
              </a:rPr>
              <a:t>← Spend Amount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" y="164592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A"/>
                </a:solidFill>
              </a:rPr>
              <a:t>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8FAA"/>
                </a:solidFill>
              </a:rPr>
              <a:t>Freq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2801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280160"/>
            <a:ext cx="54864" cy="1078992"/>
          </a:xfrm>
          <a:prstGeom prst="rect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353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Loyalists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28032" y="1645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avg spend: $850/mo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8032" y="1883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transactions/mo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28032" y="2121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Offer exclusive rewards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245059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450592"/>
            <a:ext cx="54864" cy="1078992"/>
          </a:xfrm>
          <a:prstGeom prst="rect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523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Shoppers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28032" y="2816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avg spend: $120/mo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28032" y="30540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transactions/mo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28032" y="32918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activation campaigns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362102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621024"/>
            <a:ext cx="54864" cy="1078992"/>
          </a:xfrm>
          <a:prstGeom prst="rect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694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Regular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828032" y="3986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spend: $340/mo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28032" y="4224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transactions/mo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28032" y="4462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Upsell &amp; loyalty program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 2 — BANKING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Fraud Detection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Cluster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D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B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$5,000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of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9am – 8pm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8pm – midnight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Midnight – 4am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50–200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/ 24h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3–12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2EE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005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💡  How a new transaction gets classified: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Euclidean distance from the new transaction to every cluster centroid  →  assign it to the nearest one  →  if distance &gt; threshold, flag as anomaly.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 3 — HEALTHCARE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Risk Cohort Discovery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690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64008" cy="1719072"/>
          </a:xfrm>
          <a:prstGeom prst="rect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— Low Risk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25–40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0–1 chronic conditions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ER visits / year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Annual wellness reminders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0690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98448"/>
            <a:ext cx="64008" cy="1719072"/>
          </a:xfrm>
          <a:prstGeom prst="rect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— Moderate Risk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45–60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2–3 chronic conditions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2128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1–2 ER visits / year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6883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Quarterly check-ins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72968"/>
            <a:ext cx="40690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72968"/>
            <a:ext cx="64008" cy="1719072"/>
          </a:xfrm>
          <a:prstGeom prst="rect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64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— High Risk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6118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60–75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849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4+ chronic conditions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0873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ER visits / year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5628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Care management program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172968"/>
            <a:ext cx="40690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72968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64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 — Critical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92040" y="36118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70+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849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5+ conditions + polypharmacy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0873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6+ ER visits / year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5628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Dedicated case manager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C9957A"/>
          </a:solidFill>
          <a:ln w="12700">
            <a:solidFill>
              <a:srgbClr val="C99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 4 — LOGISTICS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Zone Optimization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2344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234440"/>
            <a:ext cx="54864" cy="1005840"/>
          </a:xfrm>
          <a:prstGeom prst="rect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298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— Front of Warehouse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Fast-moving, lightweight SKUs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100–200x per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Place nearest the shipping dock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2331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331720"/>
            <a:ext cx="54864" cy="1005840"/>
          </a:xfrm>
          <a:prstGeom prst="rect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395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— Middle Section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2697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Mid-frequency, mid-weight SKUs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40–100x per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Second priority placement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429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429000"/>
            <a:ext cx="54864" cy="1005840"/>
          </a:xfrm>
          <a:prstGeom prst="rect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4930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— Back of Warehouse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3794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Slow-moving, heavy SKUs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&lt; 30x per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Minimize picker travel distance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K — The Elbow Method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2377440" y="2331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Elbow at K=3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577840" y="1005840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What is Inertia?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0" y="137160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of squared distances from each data point to its cluster centroid. Lower = tighter clusters.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2048256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2121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🦾  The Elbow Rule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15000" y="24140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clusters stops significantly reducing inertia — that 'bend' is your optimal 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090672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3163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Silhouette Score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15000" y="34564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check: measures how similar a point is to its own cluster vs others. Higher is better (max 1.0).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4133088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Business Sense Check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15000" y="44988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K against domain knowledge. K=3 in fraud (Normal/Suspicious/High-Risk) just makes sense.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Classify a New Data 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solidFill>
            <a:srgbClr val="F8F6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8FAA"/>
                </a:solidFill>
              </a:rPr>
              <a:t>Distance to Each Centroid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99032" y="1764792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73352" y="2039112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2221992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47672" y="1856232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7832" y="2496312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2770632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3044952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587752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1992" y="3593592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3867912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0552" y="4050792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3685032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2768" y="1901952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39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6776" y="1965960"/>
            <a:ext cx="128016" cy="128016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266090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AAD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2724912"/>
            <a:ext cx="128016" cy="128016"/>
          </a:xfrm>
          <a:prstGeom prst="ellipse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95728" y="3749040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8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59736" y="3813048"/>
            <a:ext cx="128016" cy="128016"/>
          </a:xfrm>
          <a:prstGeom prst="ellipse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2331720"/>
            <a:ext cx="274320" cy="27432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633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</a:rPr>
              <a:t>NEW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0" y="2468880"/>
            <a:ext cx="-585216" cy="-438912"/>
          </a:xfrm>
          <a:prstGeom prst="line">
            <a:avLst/>
          </a:prstGeom>
          <a:noFill/>
          <a:ln w="19050">
            <a:solidFill>
              <a:srgbClr val="B39DE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286000" y="2468880"/>
            <a:ext cx="1243584" cy="320040"/>
          </a:xfrm>
          <a:prstGeom prst="line">
            <a:avLst/>
          </a:prstGeom>
          <a:noFill/>
          <a:ln w="19050">
            <a:solidFill>
              <a:srgbClr val="5AADA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286000" y="2468880"/>
            <a:ext cx="237744" cy="1408176"/>
          </a:xfrm>
          <a:prstGeom prst="line">
            <a:avLst/>
          </a:prstGeom>
          <a:noFill/>
          <a:ln w="19050">
            <a:solidFill>
              <a:srgbClr val="E88B6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737360" y="2148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9DE8"/>
                </a:solidFill>
              </a:rPr>
              <a:t>0.84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2514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ADA8"/>
                </a:solidFill>
              </a:rPr>
              <a:t>1.52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291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8B6A"/>
                </a:solidFill>
              </a:rPr>
              <a:t>1.61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3931920" cy="320040"/>
          </a:xfrm>
          <a:prstGeom prst="rect">
            <a:avLst/>
          </a:prstGeom>
          <a:solidFill>
            <a:srgbClr val="E8FFFB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325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Nearest centroid: Cluster A (0.84)  →  Assign to Cluster 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9601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28032" y="1097280"/>
            <a:ext cx="502920" cy="502920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68112" y="1033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new point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68112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StandardScaler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training — never re-fit.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19202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2057400"/>
            <a:ext cx="502920" cy="502920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68112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distances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68112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Euclidean distance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new point to every centroid.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8803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3017520"/>
            <a:ext cx="502920" cy="502920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68112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nearest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68112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centroid with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distance. That's the cluster.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38404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28032" y="3977640"/>
            <a:ext cx="502920" cy="502920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68112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anomalies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68112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distance &gt; threshold (e.g. 2.5),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as anomaly regardless of cluster.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438912"/>
          </a:xfrm>
          <a:prstGeom prst="rect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— scales to large datasets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 needed (unsupervised)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7980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explain: 'group by similarity'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4198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via cluster profiles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0416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customer segmentation, anomaly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23360" cy="438912"/>
          </a:xfrm>
          <a:prstGeom prst="rect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05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  Limitations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choose K in advance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176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— they pull centroids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79806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spherical, equal-sized clusters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4198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give probabilities — only assignments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change if you re-run (random init)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Pair K-Means with a supervised model once you have confirmed labels for even better results.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Essential K-Means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069080"/>
          </a:xfrm>
          <a:prstGeom prst="rect">
            <a:avLst/>
          </a:prstGeom>
          <a:solidFill>
            <a:srgbClr val="1A2035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601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9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750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9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9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047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9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scipy.spatial.distance import cdist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345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Scale features (ALWAYS required for K-Means)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  = StandardScaler()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643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791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940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Find optimal K with Elbow + Silhouette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11):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3238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random_state=42, n_init=10)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538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 = km.fit_predict(X_scaled)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7536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968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Fit final model &amp; score new transactions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1833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new_scaled = scaler.transform(new_data)       # same scaler!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3982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distances  = cdist(new_scaled, km.cluster_centers_)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6131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   = np.argmin(distances)             # nearest centroid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FAA"/>
                </a:solidFill>
              </a:rPr>
              <a:t>Full code + manager explainer in the project PDF ↑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B39DE8">
              <a:alpha val="15000"/>
            </a:srgbClr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5AADA8">
              <a:alpha val="15000"/>
            </a:srgbClr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737360"/>
          </a:xfrm>
          <a:prstGeom prst="rect">
            <a:avLst/>
          </a:prstGeom>
          <a:solidFill>
            <a:srgbClr val="1E3055"/>
          </a:solidFill>
          <a:ln w="12700">
            <a:solidFill>
              <a:srgbClr val="B39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16152"/>
            <a:ext cx="475488" cy="475488"/>
          </a:xfrm>
          <a:prstGeom prst="ellipse">
            <a:avLst/>
          </a:prstGeom>
          <a:solidFill>
            <a:srgbClr val="B39DE8"/>
          </a:solidFill>
          <a:ln w="12700">
            <a:solidFill>
              <a:srgbClr val="B39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21615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no labels needed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finds natural groups in raw data. Perfect when you don't have fraud labels.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23360" cy="1737360"/>
          </a:xfrm>
          <a:prstGeom prst="rect">
            <a:avLst/>
          </a:prstGeom>
          <a:solidFill>
            <a:srgbClr val="1E3055"/>
          </a:solidFill>
          <a:ln w="12700">
            <a:solidFill>
              <a:srgbClr val="5AAD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16152"/>
            <a:ext cx="475488" cy="475488"/>
          </a:xfrm>
          <a:prstGeom prst="ellipse">
            <a:avLst/>
          </a:prstGeom>
          <a:solidFill>
            <a:srgbClr val="5AADA8"/>
          </a:solidFill>
          <a:ln w="12700">
            <a:solidFill>
              <a:srgbClr val="5AA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58968" y="121615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your features first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non-negotiable. Reuse the SAME scaler when scoring new points.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1E3055"/>
          </a:solidFill>
          <a:ln w="12700">
            <a:solidFill>
              <a:srgbClr val="E88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36392"/>
            <a:ext cx="475488" cy="475488"/>
          </a:xfrm>
          <a:prstGeom prst="ellipse">
            <a:avLst/>
          </a:prstGeom>
          <a:solidFill>
            <a:srgbClr val="E88B6A"/>
          </a:solidFill>
          <a:ln w="12700">
            <a:solidFill>
              <a:srgbClr val="E88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31363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confidence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closer a new point is to the fraud centroid, the higher the risk. Distance &gt; threshold = anomaly.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023360" cy="1737360"/>
          </a:xfrm>
          <a:prstGeom prst="rect">
            <a:avLst/>
          </a:prstGeom>
          <a:solidFill>
            <a:srgbClr val="1E3055"/>
          </a:solidFill>
          <a:ln w="12700">
            <a:solidFill>
              <a:srgbClr val="C99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36392"/>
            <a:ext cx="475488" cy="475488"/>
          </a:xfrm>
          <a:prstGeom prst="ellipse">
            <a:avLst/>
          </a:prstGeom>
          <a:solidFill>
            <a:srgbClr val="C9957A"/>
          </a:solidFill>
          <a:ln w="12700">
            <a:solidFill>
              <a:srgbClr val="C995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58968" y="31363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with analogies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manager: 'We grouped transactions into neighborhoods. New ones are compared to find their closest match.'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A"/>
                </a:solidFill>
              </a:rPr>
              <a:t>Adila Abdulwahid  •  Financial Data Scientist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 — A Visual Guide</dc:title>
  <dc:subject>PptxGenJS Presentation</dc:subject>
  <dc:creator>Adila Abdulwahid</dc:creator>
  <cp:lastModifiedBy>Adila Abdulwahid</cp:lastModifiedBy>
  <cp:revision>1</cp:revision>
  <dcterms:created xsi:type="dcterms:W3CDTF">2026-05-23T23:50:44Z</dcterms:created>
  <dcterms:modified xsi:type="dcterms:W3CDTF">2026-05-23T23:50:44Z</dcterms:modified>
</cp:coreProperties>
</file>